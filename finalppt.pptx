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63" r:id="rId4"/>
    <p:sldId id="264" r:id="rId5"/>
    <p:sldId id="292" r:id="rId6"/>
    <p:sldId id="293" r:id="rId7"/>
    <p:sldId id="258" r:id="rId8"/>
    <p:sldId id="259" r:id="rId9"/>
    <p:sldId id="294" r:id="rId10"/>
    <p:sldId id="298" r:id="rId11"/>
    <p:sldId id="299" r:id="rId12"/>
    <p:sldId id="295" r:id="rId13"/>
    <p:sldId id="296" r:id="rId14"/>
    <p:sldId id="297" r:id="rId15"/>
    <p:sldId id="265" r:id="rId16"/>
    <p:sldId id="34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14" r:id="rId32"/>
    <p:sldId id="315" r:id="rId33"/>
    <p:sldId id="316" r:id="rId34"/>
    <p:sldId id="317" r:id="rId35"/>
    <p:sldId id="318" r:id="rId36"/>
    <p:sldId id="319" r:id="rId37"/>
    <p:sldId id="320" r:id="rId38"/>
    <p:sldId id="321" r:id="rId39"/>
    <p:sldId id="322" r:id="rId40"/>
    <p:sldId id="323" r:id="rId41"/>
    <p:sldId id="324" r:id="rId42"/>
    <p:sldId id="325" r:id="rId43"/>
    <p:sldId id="326" r:id="rId44"/>
    <p:sldId id="327" r:id="rId45"/>
    <p:sldId id="328" r:id="rId46"/>
    <p:sldId id="329" r:id="rId47"/>
    <p:sldId id="330" r:id="rId48"/>
    <p:sldId id="331" r:id="rId49"/>
    <p:sldId id="332" r:id="rId50"/>
    <p:sldId id="333" r:id="rId51"/>
    <p:sldId id="334" r:id="rId52"/>
    <p:sldId id="335" r:id="rId53"/>
    <p:sldId id="336" r:id="rId54"/>
    <p:sldId id="337" r:id="rId55"/>
    <p:sldId id="338" r:id="rId56"/>
    <p:sldId id="339" r:id="rId57"/>
    <p:sldId id="340" r:id="rId58"/>
    <p:sldId id="341" r:id="rId59"/>
    <p:sldId id="342" r:id="rId60"/>
    <p:sldId id="343" r:id="rId61"/>
    <p:sldId id="344" r:id="rId62"/>
    <p:sldId id="345" r:id="rId63"/>
    <p:sldId id="346" r:id="rId64"/>
    <p:sldId id="347" r:id="rId65"/>
    <p:sldId id="348" r:id="rId66"/>
    <p:sldId id="350" r:id="rId67"/>
    <p:sldId id="351" r:id="rId68"/>
    <p:sldId id="353" r:id="rId69"/>
    <p:sldId id="354" r:id="rId70"/>
    <p:sldId id="352" r:id="rId71"/>
    <p:sldId id="273" r:id="rId72"/>
    <p:sldId id="275" r:id="rId7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2" d="100"/>
          <a:sy n="82" d="100"/>
        </p:scale>
        <p:origin x="720"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presProps" Target="presProps.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C0733B80-801B-4836-AFB8-78BDC62A92AE}" type="datetimeFigureOut">
              <a:rPr lang="en-IN" smtClean="0"/>
              <a:t>21-06-2024</a:t>
            </a:fld>
            <a:endParaRPr lang="en-IN" dirty="0"/>
          </a:p>
        </p:txBody>
      </p:sp>
      <p:sp>
        <p:nvSpPr>
          <p:cNvPr id="5" name="Footer Placeholder 4"/>
          <p:cNvSpPr>
            <a:spLocks noGrp="1"/>
          </p:cNvSpPr>
          <p:nvPr>
            <p:ph type="ftr" sz="quarter" idx="11"/>
          </p:nvPr>
        </p:nvSpPr>
        <p:spPr>
          <a:xfrm>
            <a:off x="1876424" y="5410201"/>
            <a:ext cx="5124886" cy="365125"/>
          </a:xfrm>
        </p:spPr>
        <p:txBody>
          <a:bodyPr/>
          <a:lstStyle/>
          <a:p>
            <a:endParaRPr lang="en-IN" dirty="0"/>
          </a:p>
        </p:txBody>
      </p:sp>
      <p:sp>
        <p:nvSpPr>
          <p:cNvPr id="6" name="Slide Number Placeholder 5"/>
          <p:cNvSpPr>
            <a:spLocks noGrp="1"/>
          </p:cNvSpPr>
          <p:nvPr>
            <p:ph type="sldNum" sz="quarter" idx="12"/>
          </p:nvPr>
        </p:nvSpPr>
        <p:spPr>
          <a:xfrm>
            <a:off x="9896911" y="5410199"/>
            <a:ext cx="771089" cy="365125"/>
          </a:xfrm>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42119357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15803882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4594202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40474191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8" name="Footer Placeholder 7"/>
          <p:cNvSpPr>
            <a:spLocks noGrp="1"/>
          </p:cNvSpPr>
          <p:nvPr>
            <p:ph type="ftr" sz="quarter" idx="11"/>
          </p:nvPr>
        </p:nvSpPr>
        <p:spPr/>
        <p:txBody>
          <a:bodyPr/>
          <a:lstStyle/>
          <a:p>
            <a:endParaRPr lang="en-IN" dirty="0"/>
          </a:p>
        </p:txBody>
      </p:sp>
      <p:sp>
        <p:nvSpPr>
          <p:cNvPr id="9" name="Slide Number Placeholder 8"/>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312019728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18774385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3" name="Footer Placeholder 2"/>
          <p:cNvSpPr>
            <a:spLocks noGrp="1"/>
          </p:cNvSpPr>
          <p:nvPr>
            <p:ph type="ftr" sz="quarter" idx="11"/>
          </p:nvPr>
        </p:nvSpPr>
        <p:spPr/>
        <p:txBody>
          <a:bodyPr/>
          <a:lstStyle/>
          <a:p>
            <a:endParaRPr lang="en-IN" dirty="0"/>
          </a:p>
        </p:txBody>
      </p:sp>
      <p:sp>
        <p:nvSpPr>
          <p:cNvPr id="4" name="Slide Number Placeholder 3"/>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34342583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165608561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165144772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dirty="0"/>
              <a:t>Click icon to add picture</a:t>
            </a:r>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542837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225702935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5521C15-6F3E-4BCF-80DE-FF5945347CD0}" type="slidenum">
              <a:rPr lang="en-IN" smtClean="0"/>
              <a:t>‹#›</a:t>
            </a:fld>
            <a:endParaRPr lang="en-IN" dirty="0"/>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49061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6" name="Footer Placeholder 5"/>
          <p:cNvSpPr>
            <a:spLocks noGrp="1"/>
          </p:cNvSpPr>
          <p:nvPr>
            <p:ph type="ftr" sz="quarter" idx="11"/>
          </p:nvPr>
        </p:nvSpPr>
        <p:spPr/>
        <p:txBody>
          <a:bodyPr/>
          <a:lstStyle/>
          <a:p>
            <a:endParaRPr lang="en-IN" dirty="0"/>
          </a:p>
        </p:txBody>
      </p:sp>
      <p:sp>
        <p:nvSpPr>
          <p:cNvPr id="7" name="Slide Number Placeholder 6"/>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218021811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79013441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dirty="0"/>
              <a:t>Click icon to add picture</a:t>
            </a:r>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4" name="Footer Placeholder 3"/>
          <p:cNvSpPr>
            <a:spLocks noGrp="1"/>
          </p:cNvSpPr>
          <p:nvPr>
            <p:ph type="ftr" sz="quarter" idx="11"/>
          </p:nvPr>
        </p:nvSpPr>
        <p:spPr/>
        <p:txBody>
          <a:bodyPr/>
          <a:lstStyle/>
          <a:p>
            <a:endParaRPr lang="en-IN" dirty="0"/>
          </a:p>
        </p:txBody>
      </p:sp>
      <p:sp>
        <p:nvSpPr>
          <p:cNvPr id="5" name="Slide Number Placeholder 4"/>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317794394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30550659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0733B80-801B-4836-AFB8-78BDC62A92AE}" type="datetimeFigureOut">
              <a:rPr lang="en-IN" smtClean="0"/>
              <a:t>21-06-2024</a:t>
            </a:fld>
            <a:endParaRPr lang="en-IN" dirty="0"/>
          </a:p>
        </p:txBody>
      </p:sp>
      <p:sp>
        <p:nvSpPr>
          <p:cNvPr id="5" name="Footer Placeholder 4"/>
          <p:cNvSpPr>
            <a:spLocks noGrp="1"/>
          </p:cNvSpPr>
          <p:nvPr>
            <p:ph type="ftr" sz="quarter" idx="11"/>
          </p:nvPr>
        </p:nvSpPr>
        <p:spPr/>
        <p:txBody>
          <a:bodyPr/>
          <a:lstStyle/>
          <a:p>
            <a:endParaRPr lang="en-IN" dirty="0"/>
          </a:p>
        </p:txBody>
      </p:sp>
      <p:sp>
        <p:nvSpPr>
          <p:cNvPr id="6" name="Slide Number Placeholder 5"/>
          <p:cNvSpPr>
            <a:spLocks noGrp="1"/>
          </p:cNvSpPr>
          <p:nvPr>
            <p:ph type="sldNum" sz="quarter" idx="12"/>
          </p:nvPr>
        </p:nvSpPr>
        <p:spPr/>
        <p:txBody>
          <a:bodyPr/>
          <a:lstStyle/>
          <a:p>
            <a:fld id="{85521C15-6F3E-4BCF-80DE-FF5945347CD0}" type="slidenum">
              <a:rPr lang="en-IN" smtClean="0"/>
              <a:t>‹#›</a:t>
            </a:fld>
            <a:endParaRPr lang="en-IN" dirty="0"/>
          </a:p>
        </p:txBody>
      </p:sp>
    </p:spTree>
    <p:extLst>
      <p:ext uri="{BB962C8B-B14F-4D97-AF65-F5344CB8AC3E}">
        <p14:creationId xmlns:p14="http://schemas.microsoft.com/office/powerpoint/2010/main" val="37723101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0733B80-801B-4836-AFB8-78BDC62A92AE}" type="datetimeFigureOut">
              <a:rPr lang="en-IN" smtClean="0"/>
              <a:t>21-06-2024</a:t>
            </a:fld>
            <a:endParaRPr lang="en-IN" dirty="0"/>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IN" dirty="0"/>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85521C15-6F3E-4BCF-80DE-FF5945347CD0}" type="slidenum">
              <a:rPr lang="en-IN" smtClean="0"/>
              <a:t>‹#›</a:t>
            </a:fld>
            <a:endParaRPr lang="en-IN" dirty="0"/>
          </a:p>
        </p:txBody>
      </p:sp>
    </p:spTree>
    <p:extLst>
      <p:ext uri="{BB962C8B-B14F-4D97-AF65-F5344CB8AC3E}">
        <p14:creationId xmlns:p14="http://schemas.microsoft.com/office/powerpoint/2010/main" val="111572264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0.jp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2" Type="http://schemas.openxmlformats.org/officeDocument/2006/relationships/image" Target="../media/image54.pn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5.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7.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D15E25-645F-46A7-FD8E-B35CE596ADA5}"/>
              </a:ext>
            </a:extLst>
          </p:cNvPr>
          <p:cNvSpPr>
            <a:spLocks noGrp="1"/>
          </p:cNvSpPr>
          <p:nvPr>
            <p:ph type="ctrTitle"/>
          </p:nvPr>
        </p:nvSpPr>
        <p:spPr>
          <a:xfrm>
            <a:off x="1876424" y="0"/>
            <a:ext cx="8791575" cy="2387600"/>
          </a:xfrm>
        </p:spPr>
        <p:txBody>
          <a:bodyPr/>
          <a:lstStyle/>
          <a:p>
            <a:r>
              <a:rPr lang="en-IN" dirty="0">
                <a:solidFill>
                  <a:schemeClr val="bg1">
                    <a:lumMod val="95000"/>
                    <a:lumOff val="5000"/>
                  </a:schemeClr>
                </a:solidFill>
                <a:latin typeface="Algerian" panose="04020705040A02060702" pitchFamily="82" charset="0"/>
              </a:rPr>
              <a:t>COURSE REGISTRATION SYSTEM</a:t>
            </a:r>
          </a:p>
        </p:txBody>
      </p:sp>
      <p:sp>
        <p:nvSpPr>
          <p:cNvPr id="3" name="Subtitle 2">
            <a:extLst>
              <a:ext uri="{FF2B5EF4-FFF2-40B4-BE49-F238E27FC236}">
                <a16:creationId xmlns:a16="http://schemas.microsoft.com/office/drawing/2014/main" id="{6D3C5936-1351-233E-CC18-12EE1C734CC2}"/>
              </a:ext>
            </a:extLst>
          </p:cNvPr>
          <p:cNvSpPr>
            <a:spLocks noGrp="1"/>
          </p:cNvSpPr>
          <p:nvPr>
            <p:ph type="subTitle" idx="1"/>
          </p:nvPr>
        </p:nvSpPr>
        <p:spPr>
          <a:xfrm>
            <a:off x="1876424" y="3602038"/>
            <a:ext cx="8791575" cy="2022014"/>
          </a:xfrm>
        </p:spPr>
        <p:txBody>
          <a:bodyPr>
            <a:normAutofit fontScale="92500" lnSpcReduction="10000"/>
          </a:bodyPr>
          <a:lstStyle/>
          <a:p>
            <a:r>
              <a:rPr lang="en-IN" sz="2400" dirty="0">
                <a:solidFill>
                  <a:schemeClr val="bg1">
                    <a:lumMod val="95000"/>
                    <a:lumOff val="5000"/>
                  </a:schemeClr>
                </a:solidFill>
                <a:latin typeface="Bell MT" panose="02020503060305020303" pitchFamily="18" charset="0"/>
              </a:rPr>
              <a:t>TEAM MEMBERS:</a:t>
            </a:r>
          </a:p>
          <a:p>
            <a:r>
              <a:rPr lang="en-IN" sz="2400" dirty="0">
                <a:solidFill>
                  <a:schemeClr val="bg1">
                    <a:lumMod val="95000"/>
                    <a:lumOff val="5000"/>
                  </a:schemeClr>
                </a:solidFill>
                <a:latin typeface="Bell MT" panose="02020503060305020303" pitchFamily="18" charset="0"/>
              </a:rPr>
              <a:t>ROHITH KUMAR – 3122235001107</a:t>
            </a:r>
          </a:p>
          <a:p>
            <a:r>
              <a:rPr lang="en-IN" sz="2400" dirty="0">
                <a:solidFill>
                  <a:schemeClr val="bg1">
                    <a:lumMod val="95000"/>
                    <a:lumOff val="5000"/>
                  </a:schemeClr>
                </a:solidFill>
                <a:latin typeface="Bell MT" panose="02020503060305020303" pitchFamily="18" charset="0"/>
              </a:rPr>
              <a:t>SIDDARTH P – 3122235001128</a:t>
            </a:r>
          </a:p>
          <a:p>
            <a:r>
              <a:rPr lang="en-IN" sz="2400" dirty="0">
                <a:solidFill>
                  <a:schemeClr val="bg1">
                    <a:lumMod val="95000"/>
                    <a:lumOff val="5000"/>
                  </a:schemeClr>
                </a:solidFill>
                <a:latin typeface="Bell MT" panose="02020503060305020303" pitchFamily="18" charset="0"/>
              </a:rPr>
              <a:t>SIDDHAARTH M – 3122235001129</a:t>
            </a:r>
          </a:p>
          <a:p>
            <a:endParaRPr lang="en-IN" dirty="0"/>
          </a:p>
          <a:p>
            <a:endParaRPr lang="en-IN" dirty="0"/>
          </a:p>
        </p:txBody>
      </p:sp>
    </p:spTree>
    <p:extLst>
      <p:ext uri="{BB962C8B-B14F-4D97-AF65-F5344CB8AC3E}">
        <p14:creationId xmlns:p14="http://schemas.microsoft.com/office/powerpoint/2010/main" val="39214387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4A7695-48E4-A2BB-D594-40AE0E625AEE}"/>
              </a:ext>
            </a:extLst>
          </p:cNvPr>
          <p:cNvSpPr>
            <a:spLocks noGrp="1"/>
          </p:cNvSpPr>
          <p:nvPr>
            <p:ph type="title"/>
          </p:nvPr>
        </p:nvSpPr>
        <p:spPr/>
        <p:txBody>
          <a:bodyPr>
            <a:normAutofit/>
          </a:bodyPr>
          <a:lstStyle/>
          <a:p>
            <a:r>
              <a:rPr lang="en-IN" sz="4800" dirty="0">
                <a:solidFill>
                  <a:schemeClr val="bg1">
                    <a:lumMod val="95000"/>
                    <a:lumOff val="5000"/>
                  </a:schemeClr>
                </a:solidFill>
                <a:latin typeface="Algerian" panose="04020705040A02060702" pitchFamily="82" charset="0"/>
              </a:rPr>
              <a:t>CONTENTS</a:t>
            </a:r>
          </a:p>
        </p:txBody>
      </p:sp>
      <p:sp>
        <p:nvSpPr>
          <p:cNvPr id="3" name="Content Placeholder 2">
            <a:extLst>
              <a:ext uri="{FF2B5EF4-FFF2-40B4-BE49-F238E27FC236}">
                <a16:creationId xmlns:a16="http://schemas.microsoft.com/office/drawing/2014/main" id="{31C1A73B-F832-464E-BD52-15F966B9F987}"/>
              </a:ext>
            </a:extLst>
          </p:cNvPr>
          <p:cNvSpPr>
            <a:spLocks noGrp="1"/>
          </p:cNvSpPr>
          <p:nvPr>
            <p:ph idx="1"/>
          </p:nvPr>
        </p:nvSpPr>
        <p:spPr/>
        <p:txBody>
          <a:bodyPr/>
          <a:lstStyle/>
          <a:p>
            <a:r>
              <a:rPr lang="en-IN" dirty="0">
                <a:solidFill>
                  <a:schemeClr val="bg1">
                    <a:lumMod val="95000"/>
                    <a:lumOff val="5000"/>
                  </a:schemeClr>
                </a:solidFill>
                <a:latin typeface="Bell MT" panose="02020503060305020303" pitchFamily="18" charset="0"/>
                <a:cs typeface="Aharoni" panose="02010803020104030203" pitchFamily="2" charset="-79"/>
              </a:rPr>
              <a:t>PROBLEM STATEMENT</a:t>
            </a:r>
          </a:p>
          <a:p>
            <a:r>
              <a:rPr lang="en-IN" dirty="0">
                <a:solidFill>
                  <a:schemeClr val="bg1">
                    <a:lumMod val="95000"/>
                    <a:lumOff val="5000"/>
                  </a:schemeClr>
                </a:solidFill>
                <a:latin typeface="Bell MT" panose="02020503060305020303" pitchFamily="18" charset="0"/>
                <a:cs typeface="Aharoni" panose="02010803020104030203" pitchFamily="2" charset="-79"/>
              </a:rPr>
              <a:t>ARCHITECTURE DIAGRAM</a:t>
            </a:r>
          </a:p>
          <a:p>
            <a:r>
              <a:rPr lang="en-IN" dirty="0">
                <a:solidFill>
                  <a:schemeClr val="bg1">
                    <a:lumMod val="95000"/>
                    <a:lumOff val="5000"/>
                  </a:schemeClr>
                </a:solidFill>
                <a:latin typeface="Bell MT" panose="02020503060305020303" pitchFamily="18" charset="0"/>
                <a:cs typeface="Aharoni" panose="02010803020104030203" pitchFamily="2" charset="-79"/>
              </a:rPr>
              <a:t>MODULES</a:t>
            </a:r>
          </a:p>
          <a:p>
            <a:r>
              <a:rPr lang="en-IN" dirty="0">
                <a:solidFill>
                  <a:schemeClr val="bg1">
                    <a:lumMod val="95000"/>
                    <a:lumOff val="5000"/>
                  </a:schemeClr>
                </a:solidFill>
                <a:latin typeface="Bell MT" panose="02020503060305020303" pitchFamily="18" charset="0"/>
                <a:cs typeface="Aharoni" panose="02010803020104030203" pitchFamily="2" charset="-79"/>
              </a:rPr>
              <a:t>SCOPES</a:t>
            </a:r>
          </a:p>
          <a:p>
            <a:r>
              <a:rPr lang="en-IN" dirty="0">
                <a:solidFill>
                  <a:schemeClr val="bg1">
                    <a:lumMod val="95000"/>
                    <a:lumOff val="5000"/>
                  </a:schemeClr>
                </a:solidFill>
                <a:latin typeface="Bell MT" panose="02020503060305020303" pitchFamily="18" charset="0"/>
                <a:cs typeface="Aharoni" panose="02010803020104030203" pitchFamily="2" charset="-79"/>
              </a:rPr>
              <a:t>LIMITATIONS</a:t>
            </a:r>
          </a:p>
        </p:txBody>
      </p:sp>
    </p:spTree>
    <p:extLst>
      <p:ext uri="{BB962C8B-B14F-4D97-AF65-F5344CB8AC3E}">
        <p14:creationId xmlns:p14="http://schemas.microsoft.com/office/powerpoint/2010/main" val="1960935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6D041-0B71-0C1D-3D8A-7133B739C2F2}"/>
              </a:ext>
            </a:extLst>
          </p:cNvPr>
          <p:cNvSpPr>
            <a:spLocks noGrp="1"/>
          </p:cNvSpPr>
          <p:nvPr>
            <p:ph type="title"/>
          </p:nvPr>
        </p:nvSpPr>
        <p:spPr>
          <a:xfrm>
            <a:off x="2626084" y="146569"/>
            <a:ext cx="6498252" cy="787495"/>
          </a:xfrm>
        </p:spPr>
        <p:txBody>
          <a:bodyPr>
            <a:normAutofit/>
          </a:bodyPr>
          <a:lstStyle/>
          <a:p>
            <a:r>
              <a:rPr lang="en-IN" sz="4800" dirty="0">
                <a:solidFill>
                  <a:schemeClr val="bg1">
                    <a:lumMod val="95000"/>
                    <a:lumOff val="5000"/>
                  </a:schemeClr>
                </a:solidFill>
                <a:latin typeface="Algerian" panose="04020705040A02060702" pitchFamily="82" charset="0"/>
              </a:rPr>
              <a:t>PROBLEM STATEMENT</a:t>
            </a:r>
          </a:p>
        </p:txBody>
      </p:sp>
      <p:sp>
        <p:nvSpPr>
          <p:cNvPr id="3" name="Content Placeholder 2">
            <a:extLst>
              <a:ext uri="{FF2B5EF4-FFF2-40B4-BE49-F238E27FC236}">
                <a16:creationId xmlns:a16="http://schemas.microsoft.com/office/drawing/2014/main" id="{0A373448-1CEE-22E5-0F44-754813F9CFC7}"/>
              </a:ext>
            </a:extLst>
          </p:cNvPr>
          <p:cNvSpPr>
            <a:spLocks noGrp="1"/>
          </p:cNvSpPr>
          <p:nvPr>
            <p:ph idx="1"/>
          </p:nvPr>
        </p:nvSpPr>
        <p:spPr>
          <a:xfrm>
            <a:off x="1141412" y="1042219"/>
            <a:ext cx="9905999" cy="5506065"/>
          </a:xfrm>
        </p:spPr>
        <p:txBody>
          <a:bodyPr>
            <a:normAutofit fontScale="70000" lnSpcReduction="20000"/>
          </a:bodyPr>
          <a:lstStyle/>
          <a:p>
            <a:pPr marL="0" indent="0" algn="l">
              <a:buNone/>
            </a:pPr>
            <a:r>
              <a:rPr lang="en-US" sz="2900" dirty="0">
                <a:solidFill>
                  <a:schemeClr val="bg1">
                    <a:lumMod val="95000"/>
                    <a:lumOff val="5000"/>
                  </a:schemeClr>
                </a:solidFill>
                <a:latin typeface="Bell MT" panose="02020503060305020303" pitchFamily="18" charset="0"/>
                <a:cs typeface="Arial" panose="020B0604020202020204" pitchFamily="34" charset="0"/>
              </a:rPr>
              <a:t>Develop a software system for taking care of course registration in a university. This system should have the following features: </a:t>
            </a:r>
          </a:p>
          <a:p>
            <a:pPr algn="l"/>
            <a:r>
              <a:rPr lang="en-US" sz="2900" dirty="0">
                <a:solidFill>
                  <a:schemeClr val="bg1">
                    <a:lumMod val="95000"/>
                    <a:lumOff val="5000"/>
                  </a:schemeClr>
                </a:solidFill>
                <a:latin typeface="Bell MT" panose="02020503060305020303" pitchFamily="18" charset="0"/>
                <a:cs typeface="Arial" panose="020B0604020202020204" pitchFamily="34" charset="0"/>
              </a:rPr>
              <a:t>Each student should log into the system to register for the chosen courses in each semester. </a:t>
            </a:r>
          </a:p>
          <a:p>
            <a:pPr algn="l"/>
            <a:r>
              <a:rPr lang="en-US" sz="2900" dirty="0">
                <a:solidFill>
                  <a:schemeClr val="bg1">
                    <a:lumMod val="95000"/>
                    <a:lumOff val="5000"/>
                  </a:schemeClr>
                </a:solidFill>
                <a:latin typeface="Bell MT" panose="02020503060305020303" pitchFamily="18" charset="0"/>
                <a:cs typeface="Arial" panose="020B0604020202020204" pitchFamily="34" charset="0"/>
              </a:rPr>
              <a:t>Once the student logs in, a list of courses that are offered in that semester should be displayed along with the information about faculty members who are teaching each section of the course. </a:t>
            </a:r>
          </a:p>
          <a:p>
            <a:pPr algn="l"/>
            <a:r>
              <a:rPr lang="en-US" sz="2900" dirty="0">
                <a:solidFill>
                  <a:schemeClr val="bg1">
                    <a:lumMod val="95000"/>
                    <a:lumOff val="5000"/>
                  </a:schemeClr>
                </a:solidFill>
                <a:latin typeface="Bell MT" panose="02020503060305020303" pitchFamily="18" charset="0"/>
                <a:cs typeface="Arial" panose="020B0604020202020204" pitchFamily="34" charset="0"/>
              </a:rPr>
              <a:t>Assume that each core course will have 3 sections and each elective course will have two sections. •Students can choose the courses in which they would like to register. </a:t>
            </a:r>
          </a:p>
          <a:p>
            <a:pPr algn="l"/>
            <a:r>
              <a:rPr lang="en-US" sz="2900" dirty="0">
                <a:solidFill>
                  <a:schemeClr val="bg1">
                    <a:lumMod val="95000"/>
                    <a:lumOff val="5000"/>
                  </a:schemeClr>
                </a:solidFill>
                <a:latin typeface="Bell MT" panose="02020503060305020303" pitchFamily="18" charset="0"/>
                <a:cs typeface="Arial" panose="020B0604020202020204" pitchFamily="34" charset="0"/>
              </a:rPr>
              <a:t>Each student should register for a minimum of 4 and a maximum of 6 courses per semester </a:t>
            </a:r>
          </a:p>
          <a:p>
            <a:pPr algn="l"/>
            <a:r>
              <a:rPr lang="en-US" sz="2900" dirty="0">
                <a:solidFill>
                  <a:schemeClr val="bg1">
                    <a:lumMod val="95000"/>
                    <a:lumOff val="5000"/>
                  </a:schemeClr>
                </a:solidFill>
                <a:latin typeface="Bell MT" panose="02020503060305020303" pitchFamily="18" charset="0"/>
                <a:cs typeface="Arial" panose="020B0604020202020204" pitchFamily="34" charset="0"/>
              </a:rPr>
              <a:t>At the end of the registration process, the list of successfully allotted courses along with the name of the teacher for each course should be displayed. In addition, the list of waitlisted courses along with waitlist number should also be displayed</a:t>
            </a:r>
            <a:endParaRPr lang="en-IN" sz="2900" dirty="0">
              <a:solidFill>
                <a:schemeClr val="bg1">
                  <a:lumMod val="95000"/>
                  <a:lumOff val="5000"/>
                </a:schemeClr>
              </a:solidFill>
              <a:latin typeface="Bell MT" panose="02020503060305020303" pitchFamily="18" charset="0"/>
              <a:cs typeface="Arial" panose="020B0604020202020204" pitchFamily="34" charset="0"/>
            </a:endParaRPr>
          </a:p>
          <a:p>
            <a:endParaRPr lang="en-IN" dirty="0"/>
          </a:p>
        </p:txBody>
      </p:sp>
    </p:spTree>
    <p:extLst>
      <p:ext uri="{BB962C8B-B14F-4D97-AF65-F5344CB8AC3E}">
        <p14:creationId xmlns:p14="http://schemas.microsoft.com/office/powerpoint/2010/main" val="279462027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21579-01DD-93A1-A1E3-7DAC5A3902BC}"/>
              </a:ext>
            </a:extLst>
          </p:cNvPr>
          <p:cNvSpPr>
            <a:spLocks noGrp="1"/>
          </p:cNvSpPr>
          <p:nvPr>
            <p:ph type="title"/>
          </p:nvPr>
        </p:nvSpPr>
        <p:spPr>
          <a:xfrm>
            <a:off x="1642858" y="353047"/>
            <a:ext cx="3184781" cy="620347"/>
          </a:xfrm>
        </p:spPr>
        <p:txBody>
          <a:bodyPr/>
          <a:lstStyle/>
          <a:p>
            <a:r>
              <a:rPr lang="en-IN" dirty="0">
                <a:solidFill>
                  <a:schemeClr val="bg1">
                    <a:lumMod val="95000"/>
                    <a:lumOff val="5000"/>
                  </a:schemeClr>
                </a:solidFill>
                <a:latin typeface="Algerian" panose="04020705040A02060702" pitchFamily="82" charset="0"/>
              </a:rPr>
              <a:t>CONSTRAINTS</a:t>
            </a:r>
          </a:p>
        </p:txBody>
      </p:sp>
      <p:sp>
        <p:nvSpPr>
          <p:cNvPr id="3" name="Content Placeholder 2">
            <a:extLst>
              <a:ext uri="{FF2B5EF4-FFF2-40B4-BE49-F238E27FC236}">
                <a16:creationId xmlns:a16="http://schemas.microsoft.com/office/drawing/2014/main" id="{0EFCED8F-9D43-D3D6-11F4-41D70B02B081}"/>
              </a:ext>
            </a:extLst>
          </p:cNvPr>
          <p:cNvSpPr>
            <a:spLocks noGrp="1"/>
          </p:cNvSpPr>
          <p:nvPr>
            <p:ph idx="1"/>
          </p:nvPr>
        </p:nvSpPr>
        <p:spPr>
          <a:xfrm>
            <a:off x="1143000" y="1197436"/>
            <a:ext cx="9905999" cy="5419674"/>
          </a:xfrm>
        </p:spPr>
        <p:txBody>
          <a:bodyPr>
            <a:noAutofit/>
          </a:bodyPr>
          <a:lstStyle/>
          <a:p>
            <a:r>
              <a:rPr lang="en-US" sz="2000" dirty="0">
                <a:solidFill>
                  <a:schemeClr val="bg1">
                    <a:lumMod val="95000"/>
                    <a:lumOff val="5000"/>
                  </a:schemeClr>
                </a:solidFill>
                <a:latin typeface="Bell MT" panose="02020503060305020303" pitchFamily="18" charset="0"/>
              </a:rPr>
              <a:t> A student should be able to register in a particular course only if he/she has already completed all prerequisites for that course. </a:t>
            </a:r>
          </a:p>
          <a:p>
            <a:r>
              <a:rPr lang="en-US" sz="2000" dirty="0">
                <a:solidFill>
                  <a:schemeClr val="bg1">
                    <a:lumMod val="95000"/>
                    <a:lumOff val="5000"/>
                  </a:schemeClr>
                </a:solidFill>
                <a:latin typeface="Bell MT" panose="02020503060305020303" pitchFamily="18" charset="0"/>
              </a:rPr>
              <a:t> Each course can be offered by multiple faculty members </a:t>
            </a:r>
          </a:p>
          <a:p>
            <a:r>
              <a:rPr lang="en-US" sz="2000" dirty="0">
                <a:solidFill>
                  <a:schemeClr val="bg1">
                    <a:lumMod val="95000"/>
                    <a:lumOff val="5000"/>
                  </a:schemeClr>
                </a:solidFill>
                <a:latin typeface="Bell MT" panose="02020503060305020303" pitchFamily="18" charset="0"/>
              </a:rPr>
              <a:t> Every section will have a fixed strength. If the section fills up, further registration should not be allowed.</a:t>
            </a:r>
          </a:p>
          <a:p>
            <a:r>
              <a:rPr lang="en-US" sz="2000" dirty="0">
                <a:solidFill>
                  <a:schemeClr val="bg1">
                    <a:lumMod val="95000"/>
                    <a:lumOff val="5000"/>
                  </a:schemeClr>
                </a:solidFill>
                <a:latin typeface="Bell MT" panose="02020503060305020303" pitchFamily="18" charset="0"/>
              </a:rPr>
              <a:t> A waitlist(10% of the class strength) will be maintained in case the allotment is not possible in the first round. </a:t>
            </a:r>
          </a:p>
          <a:p>
            <a:r>
              <a:rPr lang="en-US" sz="2000" dirty="0">
                <a:solidFill>
                  <a:schemeClr val="bg1">
                    <a:lumMod val="95000"/>
                    <a:lumOff val="5000"/>
                  </a:schemeClr>
                </a:solidFill>
                <a:latin typeface="Bell MT" panose="02020503060305020303" pitchFamily="18" charset="0"/>
              </a:rPr>
              <a:t>If a student wants to add or drop any course after initial registration, it should be allowed only within the first two weeks after the semester starts. </a:t>
            </a:r>
          </a:p>
          <a:p>
            <a:r>
              <a:rPr lang="en-US" sz="2000" dirty="0">
                <a:solidFill>
                  <a:schemeClr val="bg1">
                    <a:lumMod val="95000"/>
                    <a:lumOff val="5000"/>
                  </a:schemeClr>
                </a:solidFill>
                <a:latin typeface="Bell MT" panose="02020503060305020303" pitchFamily="18" charset="0"/>
              </a:rPr>
              <a:t>Students from the waitlist can be allotted their choice subsequent to the processing of drop requests.</a:t>
            </a:r>
            <a:endParaRPr lang="en-IN" sz="2000" dirty="0">
              <a:solidFill>
                <a:schemeClr val="bg1">
                  <a:lumMod val="95000"/>
                  <a:lumOff val="5000"/>
                </a:schemeClr>
              </a:solidFill>
              <a:latin typeface="Bell MT" panose="02020503060305020303" pitchFamily="18" charset="0"/>
            </a:endParaRPr>
          </a:p>
        </p:txBody>
      </p:sp>
    </p:spTree>
    <p:extLst>
      <p:ext uri="{BB962C8B-B14F-4D97-AF65-F5344CB8AC3E}">
        <p14:creationId xmlns:p14="http://schemas.microsoft.com/office/powerpoint/2010/main" val="10491372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DF5F2A7-0A28-F4CD-98E5-E2EB948B6D54}"/>
              </a:ext>
            </a:extLst>
          </p:cNvPr>
          <p:cNvPicPr>
            <a:picLocks noChangeAspect="1"/>
          </p:cNvPicPr>
          <p:nvPr/>
        </p:nvPicPr>
        <p:blipFill>
          <a:blip r:embed="rId2"/>
          <a:stretch>
            <a:fillRect/>
          </a:stretch>
        </p:blipFill>
        <p:spPr>
          <a:xfrm>
            <a:off x="2577102" y="814329"/>
            <a:ext cx="5731510" cy="1851660"/>
          </a:xfrm>
          <a:prstGeom prst="rect">
            <a:avLst/>
          </a:prstGeom>
        </p:spPr>
      </p:pic>
      <p:pic>
        <p:nvPicPr>
          <p:cNvPr id="3" name="Picture 2">
            <a:extLst>
              <a:ext uri="{FF2B5EF4-FFF2-40B4-BE49-F238E27FC236}">
                <a16:creationId xmlns:a16="http://schemas.microsoft.com/office/drawing/2014/main" id="{6949F1C0-087E-0931-2BE7-5076AE73C099}"/>
              </a:ext>
            </a:extLst>
          </p:cNvPr>
          <p:cNvPicPr>
            <a:picLocks noChangeAspect="1"/>
          </p:cNvPicPr>
          <p:nvPr/>
        </p:nvPicPr>
        <p:blipFill>
          <a:blip r:embed="rId3"/>
          <a:stretch>
            <a:fillRect/>
          </a:stretch>
        </p:blipFill>
        <p:spPr>
          <a:xfrm>
            <a:off x="2474465" y="3255451"/>
            <a:ext cx="6103620" cy="3108960"/>
          </a:xfrm>
          <a:prstGeom prst="rect">
            <a:avLst/>
          </a:prstGeom>
        </p:spPr>
      </p:pic>
      <p:sp>
        <p:nvSpPr>
          <p:cNvPr id="4" name="TextBox 3">
            <a:extLst>
              <a:ext uri="{FF2B5EF4-FFF2-40B4-BE49-F238E27FC236}">
                <a16:creationId xmlns:a16="http://schemas.microsoft.com/office/drawing/2014/main" id="{1A854CE4-9749-DA34-0372-7B6F01661A00}"/>
              </a:ext>
            </a:extLst>
          </p:cNvPr>
          <p:cNvSpPr txBox="1"/>
          <p:nvPr/>
        </p:nvSpPr>
        <p:spPr>
          <a:xfrm>
            <a:off x="2911151" y="261257"/>
            <a:ext cx="5094514" cy="369332"/>
          </a:xfrm>
          <a:prstGeom prst="rect">
            <a:avLst/>
          </a:prstGeom>
          <a:noFill/>
        </p:spPr>
        <p:txBody>
          <a:bodyPr wrap="square" rtlCol="0">
            <a:spAutoFit/>
          </a:bodyPr>
          <a:lstStyle/>
          <a:p>
            <a:pPr algn="ctr"/>
            <a:r>
              <a:rPr lang="en-US" dirty="0"/>
              <a:t>LEVEL-0</a:t>
            </a:r>
            <a:endParaRPr lang="en-IN" dirty="0"/>
          </a:p>
        </p:txBody>
      </p:sp>
      <p:sp>
        <p:nvSpPr>
          <p:cNvPr id="5" name="TextBox 4">
            <a:extLst>
              <a:ext uri="{FF2B5EF4-FFF2-40B4-BE49-F238E27FC236}">
                <a16:creationId xmlns:a16="http://schemas.microsoft.com/office/drawing/2014/main" id="{A9D06D9D-99C0-F153-43C5-9A845140D95E}"/>
              </a:ext>
            </a:extLst>
          </p:cNvPr>
          <p:cNvSpPr txBox="1"/>
          <p:nvPr/>
        </p:nvSpPr>
        <p:spPr>
          <a:xfrm>
            <a:off x="3566846" y="2809877"/>
            <a:ext cx="3918857" cy="369332"/>
          </a:xfrm>
          <a:prstGeom prst="rect">
            <a:avLst/>
          </a:prstGeom>
          <a:noFill/>
        </p:spPr>
        <p:txBody>
          <a:bodyPr wrap="square" rtlCol="0">
            <a:spAutoFit/>
          </a:bodyPr>
          <a:lstStyle/>
          <a:p>
            <a:pPr algn="ctr"/>
            <a:r>
              <a:rPr lang="en-US" dirty="0"/>
              <a:t>LEVEL-1</a:t>
            </a:r>
            <a:endParaRPr lang="en-IN" dirty="0"/>
          </a:p>
        </p:txBody>
      </p:sp>
    </p:spTree>
    <p:extLst>
      <p:ext uri="{BB962C8B-B14F-4D97-AF65-F5344CB8AC3E}">
        <p14:creationId xmlns:p14="http://schemas.microsoft.com/office/powerpoint/2010/main" val="404049188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36CC25B6-9F4C-3529-EE20-59F9479E0DE8}"/>
              </a:ext>
            </a:extLst>
          </p:cNvPr>
          <p:cNvPicPr>
            <a:picLocks noChangeAspect="1"/>
          </p:cNvPicPr>
          <p:nvPr/>
        </p:nvPicPr>
        <p:blipFill>
          <a:blip r:embed="rId2"/>
          <a:stretch>
            <a:fillRect/>
          </a:stretch>
        </p:blipFill>
        <p:spPr>
          <a:xfrm>
            <a:off x="1939509" y="1193462"/>
            <a:ext cx="8164359" cy="4936749"/>
          </a:xfrm>
          <a:prstGeom prst="rect">
            <a:avLst/>
          </a:prstGeom>
        </p:spPr>
      </p:pic>
      <p:sp>
        <p:nvSpPr>
          <p:cNvPr id="3" name="TextBox 2">
            <a:extLst>
              <a:ext uri="{FF2B5EF4-FFF2-40B4-BE49-F238E27FC236}">
                <a16:creationId xmlns:a16="http://schemas.microsoft.com/office/drawing/2014/main" id="{337FB884-3BC2-D5D3-F69C-E7164858F610}"/>
              </a:ext>
            </a:extLst>
          </p:cNvPr>
          <p:cNvSpPr txBox="1"/>
          <p:nvPr/>
        </p:nvSpPr>
        <p:spPr>
          <a:xfrm>
            <a:off x="3163077" y="377118"/>
            <a:ext cx="5327780" cy="369332"/>
          </a:xfrm>
          <a:prstGeom prst="rect">
            <a:avLst/>
          </a:prstGeom>
          <a:noFill/>
        </p:spPr>
        <p:txBody>
          <a:bodyPr wrap="square" rtlCol="0">
            <a:spAutoFit/>
          </a:bodyPr>
          <a:lstStyle/>
          <a:p>
            <a:pPr algn="ctr"/>
            <a:r>
              <a:rPr lang="en-US" dirty="0"/>
              <a:t>LEVEL-2</a:t>
            </a:r>
            <a:endParaRPr lang="en-IN" dirty="0"/>
          </a:p>
        </p:txBody>
      </p:sp>
    </p:spTree>
    <p:extLst>
      <p:ext uri="{BB962C8B-B14F-4D97-AF65-F5344CB8AC3E}">
        <p14:creationId xmlns:p14="http://schemas.microsoft.com/office/powerpoint/2010/main" val="19340648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6E2AA4-F64F-5F35-A514-7999833F2B9E}"/>
              </a:ext>
            </a:extLst>
          </p:cNvPr>
          <p:cNvSpPr>
            <a:spLocks noGrp="1"/>
          </p:cNvSpPr>
          <p:nvPr>
            <p:ph type="title"/>
          </p:nvPr>
        </p:nvSpPr>
        <p:spPr>
          <a:xfrm>
            <a:off x="2832560" y="39329"/>
            <a:ext cx="7009529" cy="658762"/>
          </a:xfrm>
        </p:spPr>
        <p:txBody>
          <a:bodyPr>
            <a:normAutofit fontScale="90000"/>
          </a:bodyPr>
          <a:lstStyle/>
          <a:p>
            <a:r>
              <a:rPr lang="en-IN" sz="4800" dirty="0">
                <a:solidFill>
                  <a:schemeClr val="bg1">
                    <a:lumMod val="95000"/>
                    <a:lumOff val="5000"/>
                  </a:schemeClr>
                </a:solidFill>
                <a:latin typeface="Algerian" panose="04020705040A02060702" pitchFamily="82" charset="0"/>
              </a:rPr>
              <a:t>SYSTEM ARCHITECTURE</a:t>
            </a:r>
          </a:p>
        </p:txBody>
      </p:sp>
      <p:pic>
        <p:nvPicPr>
          <p:cNvPr id="4" name="Content Placeholder 3">
            <a:extLst>
              <a:ext uri="{FF2B5EF4-FFF2-40B4-BE49-F238E27FC236}">
                <a16:creationId xmlns:a16="http://schemas.microsoft.com/office/drawing/2014/main" id="{AC4A56D6-CA61-F3F2-B608-70CD75CE258C}"/>
              </a:ext>
            </a:extLst>
          </p:cNvPr>
          <p:cNvPicPr>
            <a:picLocks noGrp="1" noChangeAspect="1"/>
          </p:cNvPicPr>
          <p:nvPr>
            <p:ph idx="1"/>
          </p:nvPr>
        </p:nvPicPr>
        <p:blipFill>
          <a:blip r:embed="rId2">
            <a:extLst>
              <a:ext uri="{BEBA8EAE-BF5A-486C-A8C5-ECC9F3942E4B}">
                <a14:imgProps xmlns:a14="http://schemas.microsoft.com/office/drawing/2010/main">
                  <a14:imgLayer r:embed="rId3">
                    <a14:imgEffect>
                      <a14:artisticFilmGrain/>
                    </a14:imgEffect>
                    <a14:imgEffect>
                      <a14:sharpenSoften amount="25000"/>
                    </a14:imgEffect>
                  </a14:imgLayer>
                </a14:imgProps>
              </a:ext>
              <a:ext uri="{28A0092B-C50C-407E-A947-70E740481C1C}">
                <a14:useLocalDpi xmlns:a14="http://schemas.microsoft.com/office/drawing/2010/main" val="0"/>
              </a:ext>
            </a:extLst>
          </a:blip>
          <a:srcRect/>
          <a:stretch/>
        </p:blipFill>
        <p:spPr>
          <a:xfrm>
            <a:off x="2222090" y="609601"/>
            <a:ext cx="7531510" cy="6086167"/>
          </a:xfrm>
          <a:prstGeom prst="rect">
            <a:avLst/>
          </a:prstGeom>
          <a:ln>
            <a:noFill/>
          </a:ln>
          <a:effectLst>
            <a:outerShdw blurRad="292100" dist="139700" dir="2700000" algn="tl" rotWithShape="0">
              <a:srgbClr val="333333">
                <a:alpha val="65000"/>
              </a:srgbClr>
            </a:outerShdw>
          </a:effectLst>
        </p:spPr>
      </p:pic>
    </p:spTree>
    <p:extLst>
      <p:ext uri="{BB962C8B-B14F-4D97-AF65-F5344CB8AC3E}">
        <p14:creationId xmlns:p14="http://schemas.microsoft.com/office/powerpoint/2010/main" val="247220649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9DE834-D72F-213A-4187-6AAE89575FE1}"/>
              </a:ext>
            </a:extLst>
          </p:cNvPr>
          <p:cNvSpPr>
            <a:spLocks noGrp="1"/>
          </p:cNvSpPr>
          <p:nvPr>
            <p:ph type="ctrTitle"/>
          </p:nvPr>
        </p:nvSpPr>
        <p:spPr>
          <a:xfrm>
            <a:off x="4508090" y="108156"/>
            <a:ext cx="3175819" cy="1209368"/>
          </a:xfrm>
        </p:spPr>
        <p:txBody>
          <a:bodyPr>
            <a:normAutofit fontScale="90000"/>
          </a:bodyPr>
          <a:lstStyle/>
          <a:p>
            <a:r>
              <a:rPr lang="en-IN" sz="5300" dirty="0">
                <a:solidFill>
                  <a:schemeClr val="bg1">
                    <a:lumMod val="95000"/>
                    <a:lumOff val="5000"/>
                  </a:schemeClr>
                </a:solidFill>
                <a:latin typeface="Algerian" panose="04020705040A02060702" pitchFamily="82" charset="0"/>
              </a:rPr>
              <a:t>MODULES</a:t>
            </a:r>
            <a:br>
              <a:rPr lang="en-IN" dirty="0">
                <a:solidFill>
                  <a:schemeClr val="bg1">
                    <a:lumMod val="95000"/>
                    <a:lumOff val="5000"/>
                  </a:schemeClr>
                </a:solidFill>
                <a:latin typeface="Algerian" panose="04020705040A02060702" pitchFamily="82" charset="0"/>
              </a:rPr>
            </a:br>
            <a:endParaRPr lang="en-IN" dirty="0">
              <a:solidFill>
                <a:schemeClr val="bg1">
                  <a:lumMod val="95000"/>
                  <a:lumOff val="5000"/>
                </a:schemeClr>
              </a:solidFill>
              <a:latin typeface="Algerian" panose="04020705040A02060702" pitchFamily="82" charset="0"/>
            </a:endParaRPr>
          </a:p>
        </p:txBody>
      </p:sp>
      <p:sp>
        <p:nvSpPr>
          <p:cNvPr id="3" name="Subtitle 2">
            <a:extLst>
              <a:ext uri="{FF2B5EF4-FFF2-40B4-BE49-F238E27FC236}">
                <a16:creationId xmlns:a16="http://schemas.microsoft.com/office/drawing/2014/main" id="{76D0CDD6-4C41-4BAF-F0E2-F816813DD12D}"/>
              </a:ext>
            </a:extLst>
          </p:cNvPr>
          <p:cNvSpPr>
            <a:spLocks noGrp="1"/>
          </p:cNvSpPr>
          <p:nvPr>
            <p:ph type="subTitle" idx="1"/>
          </p:nvPr>
        </p:nvSpPr>
        <p:spPr>
          <a:xfrm>
            <a:off x="2004244" y="1773238"/>
            <a:ext cx="8791575" cy="1655762"/>
          </a:xfrm>
        </p:spPr>
        <p:txBody>
          <a:bodyPr>
            <a:noAutofit/>
          </a:bodyPr>
          <a:lstStyle/>
          <a:p>
            <a:pPr marL="457200" indent="-457200">
              <a:buAutoNum type="arabicParenR"/>
            </a:pPr>
            <a:r>
              <a:rPr lang="en-IN" sz="2800" dirty="0">
                <a:solidFill>
                  <a:schemeClr val="bg1">
                    <a:lumMod val="95000"/>
                    <a:lumOff val="5000"/>
                  </a:schemeClr>
                </a:solidFill>
                <a:latin typeface="Bell MT" panose="02020503060305020303" pitchFamily="18" charset="0"/>
              </a:rPr>
              <a:t>LOGIN MODULE</a:t>
            </a:r>
          </a:p>
          <a:p>
            <a:pPr marL="457200" indent="-457200">
              <a:buAutoNum type="arabicParenR"/>
            </a:pPr>
            <a:r>
              <a:rPr lang="en-IN" sz="2800" dirty="0">
                <a:solidFill>
                  <a:schemeClr val="bg1">
                    <a:lumMod val="95000"/>
                    <a:lumOff val="5000"/>
                  </a:schemeClr>
                </a:solidFill>
                <a:latin typeface="Bell MT" panose="02020503060305020303" pitchFamily="18" charset="0"/>
              </a:rPr>
              <a:t>Admin module</a:t>
            </a:r>
          </a:p>
          <a:p>
            <a:pPr marL="457200" indent="-457200">
              <a:buAutoNum type="arabicParenR"/>
            </a:pPr>
            <a:r>
              <a:rPr lang="en-IN" sz="2800" dirty="0">
                <a:solidFill>
                  <a:schemeClr val="bg1">
                    <a:lumMod val="95000"/>
                    <a:lumOff val="5000"/>
                  </a:schemeClr>
                </a:solidFill>
                <a:latin typeface="Bell MT" panose="02020503060305020303" pitchFamily="18" charset="0"/>
              </a:rPr>
              <a:t>RANKLIST MODULE</a:t>
            </a:r>
          </a:p>
          <a:p>
            <a:pPr marL="457200" indent="-457200">
              <a:buAutoNum type="arabicParenR"/>
            </a:pPr>
            <a:r>
              <a:rPr lang="en-IN" sz="2800" dirty="0">
                <a:solidFill>
                  <a:schemeClr val="bg1">
                    <a:lumMod val="95000"/>
                    <a:lumOff val="5000"/>
                  </a:schemeClr>
                </a:solidFill>
                <a:latin typeface="Bell MT" panose="02020503060305020303" pitchFamily="18" charset="0"/>
              </a:rPr>
              <a:t>COURSE REGISTER MODULE</a:t>
            </a:r>
          </a:p>
          <a:p>
            <a:pPr marL="457200" indent="-457200">
              <a:buAutoNum type="arabicParenR"/>
            </a:pPr>
            <a:r>
              <a:rPr lang="en-IN" sz="2800" dirty="0">
                <a:solidFill>
                  <a:schemeClr val="bg1">
                    <a:lumMod val="95000"/>
                    <a:lumOff val="5000"/>
                  </a:schemeClr>
                </a:solidFill>
                <a:latin typeface="Bell MT" panose="02020503060305020303" pitchFamily="18" charset="0"/>
              </a:rPr>
              <a:t>ALLOTER  CUM WAITING LIST HANDLING MODULE</a:t>
            </a:r>
          </a:p>
          <a:p>
            <a:endParaRPr lang="en-IN" sz="2800" dirty="0">
              <a:solidFill>
                <a:schemeClr val="bg1">
                  <a:lumMod val="95000"/>
                  <a:lumOff val="5000"/>
                </a:schemeClr>
              </a:solidFill>
              <a:latin typeface="Bell MT" panose="02020503060305020303" pitchFamily="18" charset="0"/>
            </a:endParaRPr>
          </a:p>
        </p:txBody>
      </p:sp>
    </p:spTree>
    <p:extLst>
      <p:ext uri="{BB962C8B-B14F-4D97-AF65-F5344CB8AC3E}">
        <p14:creationId xmlns:p14="http://schemas.microsoft.com/office/powerpoint/2010/main" val="174705773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ABC6E61A-C176-02C1-DFBC-CB70F6B7B99F}"/>
              </a:ext>
            </a:extLst>
          </p:cNvPr>
          <p:cNvPicPr>
            <a:picLocks noChangeAspect="1"/>
          </p:cNvPicPr>
          <p:nvPr/>
        </p:nvPicPr>
        <p:blipFill>
          <a:blip r:embed="rId2"/>
          <a:stretch>
            <a:fillRect/>
          </a:stretch>
        </p:blipFill>
        <p:spPr>
          <a:xfrm>
            <a:off x="3551376" y="238591"/>
            <a:ext cx="4673260" cy="6380817"/>
          </a:xfrm>
          <a:prstGeom prst="rect">
            <a:avLst/>
          </a:prstGeom>
        </p:spPr>
      </p:pic>
      <p:sp>
        <p:nvSpPr>
          <p:cNvPr id="3" name="TextBox 2">
            <a:extLst>
              <a:ext uri="{FF2B5EF4-FFF2-40B4-BE49-F238E27FC236}">
                <a16:creationId xmlns:a16="http://schemas.microsoft.com/office/drawing/2014/main" id="{23467B89-D4D3-9092-37F4-EF65EF910D2E}"/>
              </a:ext>
            </a:extLst>
          </p:cNvPr>
          <p:cNvSpPr txBox="1"/>
          <p:nvPr/>
        </p:nvSpPr>
        <p:spPr>
          <a:xfrm>
            <a:off x="485192" y="1679510"/>
            <a:ext cx="2612571" cy="369332"/>
          </a:xfrm>
          <a:prstGeom prst="rect">
            <a:avLst/>
          </a:prstGeom>
          <a:noFill/>
        </p:spPr>
        <p:txBody>
          <a:bodyPr wrap="square" rtlCol="0">
            <a:spAutoFit/>
          </a:bodyPr>
          <a:lstStyle/>
          <a:p>
            <a:pPr algn="ctr"/>
            <a:r>
              <a:rPr lang="en-US" dirty="0"/>
              <a:t>LOGIN MODULE</a:t>
            </a:r>
            <a:endParaRPr lang="en-IN" dirty="0"/>
          </a:p>
        </p:txBody>
      </p:sp>
    </p:spTree>
    <p:extLst>
      <p:ext uri="{BB962C8B-B14F-4D97-AF65-F5344CB8AC3E}">
        <p14:creationId xmlns:p14="http://schemas.microsoft.com/office/powerpoint/2010/main" val="3797055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46139AF-ED9B-D888-B3E1-616A439B899F}"/>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3586406" y="681135"/>
            <a:ext cx="3921003" cy="5947034"/>
          </a:xfrm>
          <a:prstGeom prst="rect">
            <a:avLst/>
          </a:prstGeom>
          <a:noFill/>
          <a:ln>
            <a:noFill/>
          </a:ln>
        </p:spPr>
      </p:pic>
      <p:sp>
        <p:nvSpPr>
          <p:cNvPr id="3" name="TextBox 2">
            <a:extLst>
              <a:ext uri="{FF2B5EF4-FFF2-40B4-BE49-F238E27FC236}">
                <a16:creationId xmlns:a16="http://schemas.microsoft.com/office/drawing/2014/main" id="{7FFE4C91-A16C-C831-97BA-D8B8465B5EB7}"/>
              </a:ext>
            </a:extLst>
          </p:cNvPr>
          <p:cNvSpPr txBox="1"/>
          <p:nvPr/>
        </p:nvSpPr>
        <p:spPr>
          <a:xfrm>
            <a:off x="867747" y="2537927"/>
            <a:ext cx="2239347" cy="369332"/>
          </a:xfrm>
          <a:prstGeom prst="rect">
            <a:avLst/>
          </a:prstGeom>
          <a:noFill/>
        </p:spPr>
        <p:txBody>
          <a:bodyPr wrap="square" rtlCol="0">
            <a:spAutoFit/>
          </a:bodyPr>
          <a:lstStyle/>
          <a:p>
            <a:pPr algn="ctr"/>
            <a:r>
              <a:rPr lang="en-US" dirty="0"/>
              <a:t>ADMIN MODULE</a:t>
            </a:r>
            <a:endParaRPr lang="en-IN" dirty="0"/>
          </a:p>
        </p:txBody>
      </p:sp>
    </p:spTree>
    <p:extLst>
      <p:ext uri="{BB962C8B-B14F-4D97-AF65-F5344CB8AC3E}">
        <p14:creationId xmlns:p14="http://schemas.microsoft.com/office/powerpoint/2010/main" val="288125740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6F9EF72B-DFFC-2770-7FAE-DBDE557B2A52}"/>
              </a:ext>
            </a:extLst>
          </p:cNvPr>
          <p:cNvPicPr>
            <a:picLocks noChangeAspect="1"/>
          </p:cNvPicPr>
          <p:nvPr/>
        </p:nvPicPr>
        <p:blipFill rotWithShape="1">
          <a:blip r:embed="rId2">
            <a:extLst>
              <a:ext uri="{28A0092B-C50C-407E-A947-70E740481C1C}">
                <a14:useLocalDpi xmlns:a14="http://schemas.microsoft.com/office/drawing/2010/main" val="0"/>
              </a:ext>
            </a:extLst>
          </a:blip>
          <a:srcRect t="3320"/>
          <a:stretch/>
        </p:blipFill>
        <p:spPr bwMode="auto">
          <a:xfrm>
            <a:off x="3199765" y="354330"/>
            <a:ext cx="5792470" cy="6149340"/>
          </a:xfrm>
          <a:prstGeom prst="rect">
            <a:avLst/>
          </a:prstGeom>
          <a:noFill/>
          <a:ln>
            <a:noFill/>
          </a:ln>
          <a:extLst>
            <a:ext uri="{53640926-AAD7-44D8-BBD7-CCE9431645EC}">
              <a14:shadowObscured xmlns:a14="http://schemas.microsoft.com/office/drawing/2010/main"/>
            </a:ext>
          </a:extLst>
        </p:spPr>
      </p:pic>
      <p:sp>
        <p:nvSpPr>
          <p:cNvPr id="3" name="TextBox 2">
            <a:extLst>
              <a:ext uri="{FF2B5EF4-FFF2-40B4-BE49-F238E27FC236}">
                <a16:creationId xmlns:a16="http://schemas.microsoft.com/office/drawing/2014/main" id="{B8450031-6450-98BE-0C47-C779BB6376C7}"/>
              </a:ext>
            </a:extLst>
          </p:cNvPr>
          <p:cNvSpPr txBox="1"/>
          <p:nvPr/>
        </p:nvSpPr>
        <p:spPr>
          <a:xfrm>
            <a:off x="746449" y="2062065"/>
            <a:ext cx="2043404" cy="369332"/>
          </a:xfrm>
          <a:prstGeom prst="rect">
            <a:avLst/>
          </a:prstGeom>
          <a:noFill/>
        </p:spPr>
        <p:txBody>
          <a:bodyPr wrap="square" rtlCol="0">
            <a:spAutoFit/>
          </a:bodyPr>
          <a:lstStyle/>
          <a:p>
            <a:pPr algn="ctr"/>
            <a:r>
              <a:rPr lang="en-US" dirty="0"/>
              <a:t>CHOICE FILLING</a:t>
            </a:r>
            <a:endParaRPr lang="en-IN" dirty="0"/>
          </a:p>
        </p:txBody>
      </p:sp>
    </p:spTree>
    <p:extLst>
      <p:ext uri="{BB962C8B-B14F-4D97-AF65-F5344CB8AC3E}">
        <p14:creationId xmlns:p14="http://schemas.microsoft.com/office/powerpoint/2010/main" val="8773476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2874E74B-6EE4-40DE-4F23-D96958135CF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10643" y="149289"/>
            <a:ext cx="2895452" cy="6392869"/>
          </a:xfrm>
          <a:prstGeom prst="rect">
            <a:avLst/>
          </a:prstGeom>
        </p:spPr>
      </p:pic>
      <p:sp>
        <p:nvSpPr>
          <p:cNvPr id="3" name="TextBox 2">
            <a:extLst>
              <a:ext uri="{FF2B5EF4-FFF2-40B4-BE49-F238E27FC236}">
                <a16:creationId xmlns:a16="http://schemas.microsoft.com/office/drawing/2014/main" id="{C1B656F6-B4FE-DA40-CCFA-9DFB6863AFEE}"/>
              </a:ext>
            </a:extLst>
          </p:cNvPr>
          <p:cNvSpPr txBox="1"/>
          <p:nvPr/>
        </p:nvSpPr>
        <p:spPr>
          <a:xfrm>
            <a:off x="559837" y="1576873"/>
            <a:ext cx="2836506" cy="369332"/>
          </a:xfrm>
          <a:prstGeom prst="rect">
            <a:avLst/>
          </a:prstGeom>
          <a:noFill/>
        </p:spPr>
        <p:txBody>
          <a:bodyPr wrap="square" rtlCol="0">
            <a:spAutoFit/>
          </a:bodyPr>
          <a:lstStyle/>
          <a:p>
            <a:pPr algn="ctr"/>
            <a:r>
              <a:rPr lang="en-US" dirty="0"/>
              <a:t>STUDENT ENTRY MODULE</a:t>
            </a:r>
            <a:endParaRPr lang="en-IN" dirty="0"/>
          </a:p>
        </p:txBody>
      </p:sp>
    </p:spTree>
    <p:extLst>
      <p:ext uri="{BB962C8B-B14F-4D97-AF65-F5344CB8AC3E}">
        <p14:creationId xmlns:p14="http://schemas.microsoft.com/office/powerpoint/2010/main" val="159875916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7D11DE5E-BDFE-AAFA-7583-B321212FDDB0}"/>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814597" y="281940"/>
            <a:ext cx="2668554" cy="6294120"/>
          </a:xfrm>
          <a:prstGeom prst="rect">
            <a:avLst/>
          </a:prstGeom>
          <a:noFill/>
          <a:ln>
            <a:noFill/>
          </a:ln>
        </p:spPr>
      </p:pic>
      <p:sp>
        <p:nvSpPr>
          <p:cNvPr id="3" name="TextBox 2">
            <a:extLst>
              <a:ext uri="{FF2B5EF4-FFF2-40B4-BE49-F238E27FC236}">
                <a16:creationId xmlns:a16="http://schemas.microsoft.com/office/drawing/2014/main" id="{40EC20F6-ECB6-2248-DA7F-2A22C60F7503}"/>
              </a:ext>
            </a:extLst>
          </p:cNvPr>
          <p:cNvSpPr txBox="1"/>
          <p:nvPr/>
        </p:nvSpPr>
        <p:spPr>
          <a:xfrm>
            <a:off x="989045" y="1343608"/>
            <a:ext cx="2743200" cy="369332"/>
          </a:xfrm>
          <a:prstGeom prst="rect">
            <a:avLst/>
          </a:prstGeom>
          <a:noFill/>
        </p:spPr>
        <p:txBody>
          <a:bodyPr wrap="square" rtlCol="0">
            <a:spAutoFit/>
          </a:bodyPr>
          <a:lstStyle/>
          <a:p>
            <a:pPr algn="ctr"/>
            <a:r>
              <a:rPr lang="en-US" dirty="0"/>
              <a:t>RANKING MODULE</a:t>
            </a:r>
            <a:endParaRPr lang="en-IN" dirty="0"/>
          </a:p>
        </p:txBody>
      </p:sp>
    </p:spTree>
    <p:extLst>
      <p:ext uri="{BB962C8B-B14F-4D97-AF65-F5344CB8AC3E}">
        <p14:creationId xmlns:p14="http://schemas.microsoft.com/office/powerpoint/2010/main" val="15888466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68E43CE0-EC35-CED1-315A-22F890BC25A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4608249" y="142292"/>
            <a:ext cx="2580675" cy="6573416"/>
          </a:xfrm>
          <a:prstGeom prst="rect">
            <a:avLst/>
          </a:prstGeom>
          <a:noFill/>
          <a:ln>
            <a:noFill/>
          </a:ln>
        </p:spPr>
      </p:pic>
      <p:sp>
        <p:nvSpPr>
          <p:cNvPr id="5" name="TextBox 4">
            <a:extLst>
              <a:ext uri="{FF2B5EF4-FFF2-40B4-BE49-F238E27FC236}">
                <a16:creationId xmlns:a16="http://schemas.microsoft.com/office/drawing/2014/main" id="{D9AFE5A6-32E4-B540-DC9A-D48E68CF258D}"/>
              </a:ext>
            </a:extLst>
          </p:cNvPr>
          <p:cNvSpPr txBox="1"/>
          <p:nvPr/>
        </p:nvSpPr>
        <p:spPr>
          <a:xfrm>
            <a:off x="951722" y="1828800"/>
            <a:ext cx="3041780" cy="646331"/>
          </a:xfrm>
          <a:prstGeom prst="rect">
            <a:avLst/>
          </a:prstGeom>
          <a:noFill/>
        </p:spPr>
        <p:txBody>
          <a:bodyPr wrap="square" rtlCol="0">
            <a:spAutoFit/>
          </a:bodyPr>
          <a:lstStyle/>
          <a:p>
            <a:pPr algn="ctr"/>
            <a:r>
              <a:rPr lang="en-US" dirty="0"/>
              <a:t>ALLOTMENT AND WAITING LIST MODULE</a:t>
            </a:r>
            <a:endParaRPr lang="en-IN" dirty="0"/>
          </a:p>
        </p:txBody>
      </p:sp>
    </p:spTree>
    <p:extLst>
      <p:ext uri="{BB962C8B-B14F-4D97-AF65-F5344CB8AC3E}">
        <p14:creationId xmlns:p14="http://schemas.microsoft.com/office/powerpoint/2010/main" val="173353040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BE32EA-F5A7-C31E-9CB8-4CDF364A7A55}"/>
              </a:ext>
            </a:extLst>
          </p:cNvPr>
          <p:cNvSpPr>
            <a:spLocks noGrp="1"/>
          </p:cNvSpPr>
          <p:nvPr>
            <p:ph type="title"/>
          </p:nvPr>
        </p:nvSpPr>
        <p:spPr/>
        <p:txBody>
          <a:bodyPr/>
          <a:lstStyle/>
          <a:p>
            <a:r>
              <a:rPr lang="en-US" dirty="0">
                <a:solidFill>
                  <a:schemeClr val="bg1"/>
                </a:solidFill>
              </a:rPr>
              <a:t>LOGIN MODULE</a:t>
            </a:r>
            <a:endParaRPr lang="en-IN" dirty="0">
              <a:solidFill>
                <a:schemeClr val="bg1"/>
              </a:solidFill>
            </a:endParaRPr>
          </a:p>
        </p:txBody>
      </p:sp>
      <p:sp>
        <p:nvSpPr>
          <p:cNvPr id="3" name="Content Placeholder 2">
            <a:extLst>
              <a:ext uri="{FF2B5EF4-FFF2-40B4-BE49-F238E27FC236}">
                <a16:creationId xmlns:a16="http://schemas.microsoft.com/office/drawing/2014/main" id="{32CE1E41-0EE3-B989-2837-51A010556268}"/>
              </a:ext>
            </a:extLst>
          </p:cNvPr>
          <p:cNvSpPr>
            <a:spLocks noGrp="1"/>
          </p:cNvSpPr>
          <p:nvPr>
            <p:ph idx="1"/>
          </p:nvPr>
        </p:nvSpPr>
        <p:spPr>
          <a:xfrm>
            <a:off x="1141412" y="2249487"/>
            <a:ext cx="10074579" cy="4297228"/>
          </a:xfrm>
        </p:spPr>
        <p:txBody>
          <a:bodyPr/>
          <a:lstStyle/>
          <a:p>
            <a:r>
              <a:rPr lang="en-US" sz="2400" dirty="0">
                <a:solidFill>
                  <a:schemeClr val="bg1"/>
                </a:solidFill>
              </a:rPr>
              <a:t>This login module is a simple user management system implemented in C.</a:t>
            </a:r>
          </a:p>
          <a:p>
            <a:r>
              <a:rPr lang="en-US" sz="2400" dirty="0">
                <a:solidFill>
                  <a:schemeClr val="bg1"/>
                </a:solidFill>
              </a:rPr>
              <a:t> It allows users to sign up and log in using their credentials. </a:t>
            </a:r>
          </a:p>
          <a:p>
            <a:r>
              <a:rPr lang="en-US" sz="2400" dirty="0">
                <a:solidFill>
                  <a:schemeClr val="bg1"/>
                </a:solidFill>
              </a:rPr>
              <a:t>The system supports storing user details in a file, so data persists between runs of the program</a:t>
            </a:r>
            <a:endParaRPr lang="en-IN" dirty="0">
              <a:solidFill>
                <a:schemeClr val="bg1"/>
              </a:solidFill>
            </a:endParaRPr>
          </a:p>
        </p:txBody>
      </p:sp>
    </p:spTree>
    <p:extLst>
      <p:ext uri="{BB962C8B-B14F-4D97-AF65-F5344CB8AC3E}">
        <p14:creationId xmlns:p14="http://schemas.microsoft.com/office/powerpoint/2010/main" val="429199940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DC585CB4-2EB1-DF97-0025-F9F1CCEDCB6D}"/>
              </a:ext>
            </a:extLst>
          </p:cNvPr>
          <p:cNvSpPr>
            <a:spLocks noGrp="1"/>
          </p:cNvSpPr>
          <p:nvPr>
            <p:ph type="title"/>
          </p:nvPr>
        </p:nvSpPr>
        <p:spPr>
          <a:xfrm>
            <a:off x="1143001" y="2232714"/>
            <a:ext cx="9905998" cy="1478570"/>
          </a:xfrm>
        </p:spPr>
        <p:txBody>
          <a:bodyPr/>
          <a:lstStyle/>
          <a:p>
            <a:pPr algn="ctr"/>
            <a:r>
              <a:rPr lang="en-US" dirty="0"/>
              <a:t>MAIN.C</a:t>
            </a:r>
            <a:endParaRPr lang="en-IN" dirty="0"/>
          </a:p>
        </p:txBody>
      </p:sp>
    </p:spTree>
    <p:extLst>
      <p:ext uri="{BB962C8B-B14F-4D97-AF65-F5344CB8AC3E}">
        <p14:creationId xmlns:p14="http://schemas.microsoft.com/office/powerpoint/2010/main" val="171412197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803A1E-2F9A-0097-3B9F-AAF17F5A650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47788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DC71FFC-E87F-C0FC-43E0-1B29ABF26A4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6962332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C5608E5-D940-E3C5-0ADE-8CBFF1E2374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9954411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30E770A-4401-0059-08DC-5C7A2C48FA0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7432216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32FDD4F-1B2B-F888-54D4-C8E3CA520681}"/>
              </a:ext>
            </a:extLst>
          </p:cNvPr>
          <p:cNvSpPr txBox="1"/>
          <p:nvPr/>
        </p:nvSpPr>
        <p:spPr>
          <a:xfrm>
            <a:off x="2118049" y="2397967"/>
            <a:ext cx="7473820" cy="923330"/>
          </a:xfrm>
          <a:prstGeom prst="rect">
            <a:avLst/>
          </a:prstGeom>
          <a:noFill/>
        </p:spPr>
        <p:txBody>
          <a:bodyPr wrap="square" rtlCol="0">
            <a:spAutoFit/>
          </a:bodyPr>
          <a:lstStyle/>
          <a:p>
            <a:pPr algn="ctr"/>
            <a:r>
              <a:rPr lang="en-US" sz="5400" dirty="0" err="1"/>
              <a:t>Student.h</a:t>
            </a:r>
            <a:endParaRPr lang="en-IN" sz="5400" dirty="0"/>
          </a:p>
        </p:txBody>
      </p:sp>
    </p:spTree>
    <p:extLst>
      <p:ext uri="{BB962C8B-B14F-4D97-AF65-F5344CB8AC3E}">
        <p14:creationId xmlns:p14="http://schemas.microsoft.com/office/powerpoint/2010/main" val="356906656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5F801D-10FD-CD0F-39B1-681FF033E4EC}"/>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928574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8E502A6-5F8D-4D9C-0B21-96999D7F958B}"/>
              </a:ext>
            </a:extLst>
          </p:cNvPr>
          <p:cNvSpPr txBox="1"/>
          <p:nvPr/>
        </p:nvSpPr>
        <p:spPr>
          <a:xfrm>
            <a:off x="877077" y="2691882"/>
            <a:ext cx="9722498" cy="769441"/>
          </a:xfrm>
          <a:prstGeom prst="rect">
            <a:avLst/>
          </a:prstGeom>
          <a:noFill/>
        </p:spPr>
        <p:txBody>
          <a:bodyPr wrap="square" rtlCol="0">
            <a:spAutoFit/>
          </a:bodyPr>
          <a:lstStyle/>
          <a:p>
            <a:pPr algn="ctr"/>
            <a:r>
              <a:rPr lang="en-US" sz="4400" dirty="0" err="1"/>
              <a:t>Student.c</a:t>
            </a:r>
            <a:endParaRPr lang="en-IN" sz="4400" dirty="0"/>
          </a:p>
        </p:txBody>
      </p:sp>
    </p:spTree>
    <p:extLst>
      <p:ext uri="{BB962C8B-B14F-4D97-AF65-F5344CB8AC3E}">
        <p14:creationId xmlns:p14="http://schemas.microsoft.com/office/powerpoint/2010/main" val="141045320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0E354FA-3052-5FCC-7F7A-54ECF794BE6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71145142"/>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0A4D786-D896-744C-4847-500EC7EEBA8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569717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8AA3754-48A7-D046-EC2E-F229131F6C6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8305007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320E8D2-D73E-C846-B8CF-06D64009FBF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1820994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B9333EE-EECA-4D7E-BECD-7491904E4BC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2926659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0C3D17-D2F2-B9E8-4E78-21B5167F3BDA}"/>
              </a:ext>
            </a:extLst>
          </p:cNvPr>
          <p:cNvSpPr>
            <a:spLocks noGrp="1"/>
          </p:cNvSpPr>
          <p:nvPr>
            <p:ph type="title"/>
          </p:nvPr>
        </p:nvSpPr>
        <p:spPr>
          <a:xfrm>
            <a:off x="1143001" y="2596607"/>
            <a:ext cx="9905998" cy="1478570"/>
          </a:xfrm>
        </p:spPr>
        <p:txBody>
          <a:bodyPr>
            <a:normAutofit/>
          </a:bodyPr>
          <a:lstStyle/>
          <a:p>
            <a:pPr algn="ctr"/>
            <a:r>
              <a:rPr lang="en-US" sz="4400" dirty="0" err="1"/>
              <a:t>Admin.h</a:t>
            </a:r>
            <a:endParaRPr lang="en-IN" sz="4400" dirty="0"/>
          </a:p>
        </p:txBody>
      </p:sp>
    </p:spTree>
    <p:extLst>
      <p:ext uri="{BB962C8B-B14F-4D97-AF65-F5344CB8AC3E}">
        <p14:creationId xmlns:p14="http://schemas.microsoft.com/office/powerpoint/2010/main" val="7241855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2ED9248-4F82-B0E0-5FBD-2DCC168A532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7469677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8913FA-4B8F-C44F-AEEB-0F3674AA28E2}"/>
              </a:ext>
            </a:extLst>
          </p:cNvPr>
          <p:cNvSpPr>
            <a:spLocks noGrp="1"/>
          </p:cNvSpPr>
          <p:nvPr>
            <p:ph type="title"/>
          </p:nvPr>
        </p:nvSpPr>
        <p:spPr>
          <a:xfrm>
            <a:off x="1001454" y="2270036"/>
            <a:ext cx="9905998" cy="1478570"/>
          </a:xfrm>
        </p:spPr>
        <p:txBody>
          <a:bodyPr/>
          <a:lstStyle/>
          <a:p>
            <a:pPr algn="ctr"/>
            <a:r>
              <a:rPr lang="en-US" dirty="0" err="1"/>
              <a:t>Admin.c</a:t>
            </a:r>
            <a:endParaRPr lang="en-IN" dirty="0"/>
          </a:p>
        </p:txBody>
      </p:sp>
    </p:spTree>
    <p:extLst>
      <p:ext uri="{BB962C8B-B14F-4D97-AF65-F5344CB8AC3E}">
        <p14:creationId xmlns:p14="http://schemas.microsoft.com/office/powerpoint/2010/main" val="19450223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8E83383-7BE0-484A-F288-DFBEB739F28F}"/>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5103201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8CDEE13-B264-3E42-61E5-5DDB0EFBAC7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5242624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95DECEB-45DB-3B94-3FCA-1D14B843839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2157457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B4297DF-87D3-ABDB-9247-FC97DAFC670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12991294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3FF8A4F-4BF3-1E48-4790-DC4550347EC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2282956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6B1404-E911-20E7-B884-45BC0FC3DFDB}"/>
              </a:ext>
            </a:extLst>
          </p:cNvPr>
          <p:cNvSpPr>
            <a:spLocks noGrp="1"/>
          </p:cNvSpPr>
          <p:nvPr>
            <p:ph type="title"/>
          </p:nvPr>
        </p:nvSpPr>
        <p:spPr>
          <a:xfrm>
            <a:off x="1048107" y="2307359"/>
            <a:ext cx="9905998" cy="1478570"/>
          </a:xfrm>
        </p:spPr>
        <p:txBody>
          <a:bodyPr>
            <a:normAutofit/>
          </a:bodyPr>
          <a:lstStyle/>
          <a:p>
            <a:pPr algn="ctr"/>
            <a:r>
              <a:rPr lang="en-US" sz="4400" dirty="0" err="1"/>
              <a:t>Course.h</a:t>
            </a:r>
            <a:endParaRPr lang="en-IN" sz="4400" dirty="0"/>
          </a:p>
        </p:txBody>
      </p:sp>
    </p:spTree>
    <p:extLst>
      <p:ext uri="{BB962C8B-B14F-4D97-AF65-F5344CB8AC3E}">
        <p14:creationId xmlns:p14="http://schemas.microsoft.com/office/powerpoint/2010/main" val="135982039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140F3152-77E2-2295-F63C-1E0F8D84035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60525251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E6E5BE-B118-E7A9-77D6-8E58510A018A}"/>
              </a:ext>
            </a:extLst>
          </p:cNvPr>
          <p:cNvSpPr>
            <a:spLocks noGrp="1"/>
          </p:cNvSpPr>
          <p:nvPr>
            <p:ph type="title"/>
          </p:nvPr>
        </p:nvSpPr>
        <p:spPr>
          <a:xfrm>
            <a:off x="1020115" y="2484640"/>
            <a:ext cx="9905998" cy="1478570"/>
          </a:xfrm>
        </p:spPr>
        <p:txBody>
          <a:bodyPr>
            <a:normAutofit/>
          </a:bodyPr>
          <a:lstStyle/>
          <a:p>
            <a:pPr algn="ctr"/>
            <a:r>
              <a:rPr lang="en-US" sz="4400" dirty="0"/>
              <a:t>COURSE.C</a:t>
            </a:r>
            <a:endParaRPr lang="en-IN" sz="4400" dirty="0"/>
          </a:p>
        </p:txBody>
      </p:sp>
    </p:spTree>
    <p:extLst>
      <p:ext uri="{BB962C8B-B14F-4D97-AF65-F5344CB8AC3E}">
        <p14:creationId xmlns:p14="http://schemas.microsoft.com/office/powerpoint/2010/main" val="424086121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F02540-AEA2-9664-72AE-8EB0D47AD90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700538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CCDF003-E3B3-FFD0-A979-3E8A181C5E3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84261207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FEA7C0F3-12E2-9B57-7231-D658F9E3AC9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82299160"/>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87BA894-E404-4AD6-655D-FEB3CD11E59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2730105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D2AF8E7-A886-EF94-CC6A-59AC1534269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475671912"/>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A995F93-32C2-35F5-7CB6-73F84EBE07C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2530307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74103E3-1FBA-8DA1-8AE5-39DF32BAFA1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8229762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42E3245-C09D-F759-D390-52B69C9608F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2171824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F8451BA-9C15-5E93-0537-FF8D0592ACE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66059521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EEB85CD-C49A-A7FA-1539-18772D8C126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83356407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A444A0B-A653-A038-E425-86FBB35976A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73433628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A1D0C5-CB57-DE61-46AD-C3EA06507440}"/>
              </a:ext>
            </a:extLst>
          </p:cNvPr>
          <p:cNvSpPr>
            <a:spLocks noGrp="1"/>
          </p:cNvSpPr>
          <p:nvPr>
            <p:ph type="title"/>
          </p:nvPr>
        </p:nvSpPr>
        <p:spPr>
          <a:xfrm>
            <a:off x="1328025" y="2512633"/>
            <a:ext cx="9905998" cy="1478570"/>
          </a:xfrm>
        </p:spPr>
        <p:txBody>
          <a:bodyPr/>
          <a:lstStyle/>
          <a:p>
            <a:pPr algn="ctr"/>
            <a:r>
              <a:rPr lang="en-US" dirty="0"/>
              <a:t>COMMON.C</a:t>
            </a:r>
            <a:endParaRPr lang="en-IN" dirty="0"/>
          </a:p>
        </p:txBody>
      </p:sp>
    </p:spTree>
    <p:extLst>
      <p:ext uri="{BB962C8B-B14F-4D97-AF65-F5344CB8AC3E}">
        <p14:creationId xmlns:p14="http://schemas.microsoft.com/office/powerpoint/2010/main" val="35126320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2D548B-3F82-2831-0EA3-1FE33FB9B8E1}"/>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26843499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4CDBE92-3592-547C-96A6-6148520D39D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6027753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0B5E927E-5513-3813-D38C-9CCEB58230B7}"/>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9250167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56FEE-64CC-8E93-418E-BE648BB24F29}"/>
              </a:ext>
            </a:extLst>
          </p:cNvPr>
          <p:cNvSpPr>
            <a:spLocks noGrp="1"/>
          </p:cNvSpPr>
          <p:nvPr>
            <p:ph type="title"/>
          </p:nvPr>
        </p:nvSpPr>
        <p:spPr>
          <a:xfrm>
            <a:off x="1066768" y="2447318"/>
            <a:ext cx="9905998" cy="1478570"/>
          </a:xfrm>
        </p:spPr>
        <p:txBody>
          <a:bodyPr>
            <a:normAutofit/>
          </a:bodyPr>
          <a:lstStyle/>
          <a:p>
            <a:pPr algn="ctr"/>
            <a:r>
              <a:rPr lang="en-US" sz="4400" dirty="0" err="1"/>
              <a:t>Utility.h</a:t>
            </a:r>
            <a:endParaRPr lang="en-IN" sz="4400" dirty="0"/>
          </a:p>
        </p:txBody>
      </p:sp>
    </p:spTree>
    <p:extLst>
      <p:ext uri="{BB962C8B-B14F-4D97-AF65-F5344CB8AC3E}">
        <p14:creationId xmlns:p14="http://schemas.microsoft.com/office/powerpoint/2010/main" val="402282744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6920F448-7209-F914-155B-6C141ADF510A}"/>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151412490"/>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2B1AEB-0C9F-32A3-E0AA-F1689FE754F7}"/>
              </a:ext>
            </a:extLst>
          </p:cNvPr>
          <p:cNvSpPr>
            <a:spLocks noGrp="1"/>
          </p:cNvSpPr>
          <p:nvPr>
            <p:ph type="title"/>
          </p:nvPr>
        </p:nvSpPr>
        <p:spPr>
          <a:xfrm>
            <a:off x="1057437" y="2512632"/>
            <a:ext cx="9905998" cy="1478570"/>
          </a:xfrm>
        </p:spPr>
        <p:txBody>
          <a:bodyPr>
            <a:normAutofit/>
          </a:bodyPr>
          <a:lstStyle/>
          <a:p>
            <a:pPr algn="ctr"/>
            <a:r>
              <a:rPr lang="en-US" sz="4400" dirty="0"/>
              <a:t>UTILITY.C</a:t>
            </a:r>
            <a:endParaRPr lang="en-IN" sz="4400" dirty="0"/>
          </a:p>
        </p:txBody>
      </p:sp>
    </p:spTree>
    <p:extLst>
      <p:ext uri="{BB962C8B-B14F-4D97-AF65-F5344CB8AC3E}">
        <p14:creationId xmlns:p14="http://schemas.microsoft.com/office/powerpoint/2010/main" val="104411991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584E3ABB-A5A3-9B14-FFF8-9FA36D253783}"/>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0532142"/>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C20A74-373E-4940-DDE9-A40A051D8FBE}"/>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960273725"/>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FED6994-951F-5B18-0524-27A5BCA84A1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44165947"/>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A2B71B7-2928-A153-881D-24B00F4D696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950931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33E28FEA-423B-9422-3030-4DD20D6C0155}"/>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5117066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0C295F7-C878-591C-F118-68528D17A158}"/>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163036475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83FA0F0-6934-CBC8-6A17-178A3BB2B71D}"/>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55332578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41F280EC-C6CE-F974-76F0-BA54A685C84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49806997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29214A9D-AD08-E617-ED28-365E01C1924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3983976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59D37DD-52A7-23A9-40C2-CEC537A82B26}"/>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9146789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BA9BA515-E4C1-8F6D-7BBD-6C7C810B5CC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918455237"/>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C175EF18-22BB-1752-2610-840A586946B9}"/>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56835635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E308FB1-8E48-9E1F-212D-440359CD5A32}"/>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2488257939"/>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AE246-648B-1322-DF28-CC649BCBEB27}"/>
              </a:ext>
            </a:extLst>
          </p:cNvPr>
          <p:cNvSpPr>
            <a:spLocks noGrp="1"/>
          </p:cNvSpPr>
          <p:nvPr>
            <p:ph type="title"/>
          </p:nvPr>
        </p:nvSpPr>
        <p:spPr>
          <a:xfrm>
            <a:off x="3873910" y="328465"/>
            <a:ext cx="3795251" cy="738334"/>
          </a:xfrm>
        </p:spPr>
        <p:txBody>
          <a:bodyPr>
            <a:noAutofit/>
          </a:bodyPr>
          <a:lstStyle/>
          <a:p>
            <a:r>
              <a:rPr lang="en-IN" sz="4800" dirty="0">
                <a:solidFill>
                  <a:schemeClr val="bg1">
                    <a:lumMod val="95000"/>
                    <a:lumOff val="5000"/>
                  </a:schemeClr>
                </a:solidFill>
                <a:latin typeface="Algerian" panose="04020705040A02060702" pitchFamily="82" charset="0"/>
              </a:rPr>
              <a:t>LIMITATIONS</a:t>
            </a:r>
          </a:p>
        </p:txBody>
      </p:sp>
      <p:sp>
        <p:nvSpPr>
          <p:cNvPr id="3" name="Content Placeholder 2">
            <a:extLst>
              <a:ext uri="{FF2B5EF4-FFF2-40B4-BE49-F238E27FC236}">
                <a16:creationId xmlns:a16="http://schemas.microsoft.com/office/drawing/2014/main" id="{1878B6AE-C963-E1CE-D051-39C446C44808}"/>
              </a:ext>
            </a:extLst>
          </p:cNvPr>
          <p:cNvSpPr>
            <a:spLocks noGrp="1"/>
          </p:cNvSpPr>
          <p:nvPr>
            <p:ph idx="1"/>
          </p:nvPr>
        </p:nvSpPr>
        <p:spPr>
          <a:xfrm>
            <a:off x="1143000" y="1541563"/>
            <a:ext cx="9905999" cy="4505275"/>
          </a:xfrm>
        </p:spPr>
        <p:txBody>
          <a:bodyPr>
            <a:normAutofit/>
          </a:bodyPr>
          <a:lstStyle/>
          <a:p>
            <a:r>
              <a:rPr lang="en-IN" sz="2800" dirty="0">
                <a:solidFill>
                  <a:schemeClr val="bg1">
                    <a:lumMod val="95000"/>
                    <a:lumOff val="5000"/>
                  </a:schemeClr>
                </a:solidFill>
                <a:latin typeface="Bell MT" panose="02020503060305020303" pitchFamily="18" charset="0"/>
              </a:rPr>
              <a:t>SECURITY: Lack of</a:t>
            </a:r>
            <a:r>
              <a:rPr lang="en-US" sz="2800" dirty="0">
                <a:solidFill>
                  <a:schemeClr val="bg1">
                    <a:lumMod val="95000"/>
                    <a:lumOff val="5000"/>
                  </a:schemeClr>
                </a:solidFill>
                <a:latin typeface="Bell MT" panose="02020503060305020303" pitchFamily="18" charset="0"/>
              </a:rPr>
              <a:t> security to protect sensitive information of the users.</a:t>
            </a:r>
            <a:endParaRPr lang="en-IN" sz="2800" dirty="0">
              <a:solidFill>
                <a:schemeClr val="bg1">
                  <a:lumMod val="95000"/>
                  <a:lumOff val="5000"/>
                </a:schemeClr>
              </a:solidFill>
              <a:latin typeface="Bell MT" panose="02020503060305020303" pitchFamily="18" charset="0"/>
            </a:endParaRPr>
          </a:p>
          <a:p>
            <a:r>
              <a:rPr lang="en-IN" sz="2800" dirty="0">
                <a:solidFill>
                  <a:schemeClr val="bg1">
                    <a:lumMod val="95000"/>
                    <a:lumOff val="5000"/>
                  </a:schemeClr>
                </a:solidFill>
                <a:latin typeface="Bell MT" panose="02020503060305020303" pitchFamily="18" charset="0"/>
              </a:rPr>
              <a:t>COMMUNICATION: Interaction between the user and admin is not possible in case of emergency.</a:t>
            </a:r>
          </a:p>
          <a:p>
            <a:r>
              <a:rPr lang="en-IN" sz="2800" dirty="0">
                <a:solidFill>
                  <a:schemeClr val="bg1">
                    <a:lumMod val="95000"/>
                    <a:lumOff val="5000"/>
                  </a:schemeClr>
                </a:solidFill>
                <a:latin typeface="Bell MT" panose="02020503060305020303" pitchFamily="18" charset="0"/>
              </a:rPr>
              <a:t>STORAGE: Storing the information of students in files takes up a lot of storage in the system and slows down the process.</a:t>
            </a:r>
          </a:p>
        </p:txBody>
      </p:sp>
    </p:spTree>
    <p:extLst>
      <p:ext uri="{BB962C8B-B14F-4D97-AF65-F5344CB8AC3E}">
        <p14:creationId xmlns:p14="http://schemas.microsoft.com/office/powerpoint/2010/main" val="375162988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12B0BC-39FD-2AEF-1B46-87692CF82DC5}"/>
              </a:ext>
            </a:extLst>
          </p:cNvPr>
          <p:cNvSpPr>
            <a:spLocks noGrp="1"/>
          </p:cNvSpPr>
          <p:nvPr>
            <p:ph type="title"/>
          </p:nvPr>
        </p:nvSpPr>
        <p:spPr>
          <a:xfrm>
            <a:off x="3324174" y="2502902"/>
            <a:ext cx="5328213" cy="1478570"/>
          </a:xfrm>
        </p:spPr>
        <p:txBody>
          <a:bodyPr>
            <a:normAutofit/>
          </a:bodyPr>
          <a:lstStyle/>
          <a:p>
            <a:r>
              <a:rPr lang="en-IN" sz="7200" dirty="0">
                <a:solidFill>
                  <a:schemeClr val="bg1">
                    <a:lumMod val="95000"/>
                    <a:lumOff val="5000"/>
                  </a:schemeClr>
                </a:solidFill>
                <a:latin typeface="Algerian" panose="04020705040A02060702" pitchFamily="82" charset="0"/>
              </a:rPr>
              <a:t>THANK YOU</a:t>
            </a:r>
          </a:p>
        </p:txBody>
      </p:sp>
    </p:spTree>
    <p:extLst>
      <p:ext uri="{BB962C8B-B14F-4D97-AF65-F5344CB8AC3E}">
        <p14:creationId xmlns:p14="http://schemas.microsoft.com/office/powerpoint/2010/main" val="135581879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134770"/>
      </a:dk2>
      <a:lt2>
        <a:srgbClr val="82FFFF"/>
      </a:lt2>
      <a:accent1>
        <a:srgbClr val="9ACD4C"/>
      </a:accent1>
      <a:accent2>
        <a:srgbClr val="FAA93A"/>
      </a:accent2>
      <a:accent3>
        <a:srgbClr val="D35940"/>
      </a:accent3>
      <a:accent4>
        <a:srgbClr val="B258D3"/>
      </a:accent4>
      <a:accent5>
        <a:srgbClr val="63A0CC"/>
      </a:accent5>
      <a:accent6>
        <a:srgbClr val="8AC4A7"/>
      </a:accent6>
      <a:hlink>
        <a:srgbClr val="B8FA56"/>
      </a:hlink>
      <a:folHlink>
        <a:srgbClr val="7AF8CC"/>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90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0911B802-464C-4241-8DD9-B60FF88E379F}"/>
    </a:ext>
  </a:extLst>
</a:theme>
</file>

<file path=docProps/app.xml><?xml version="1.0" encoding="utf-8"?>
<Properties xmlns="http://schemas.openxmlformats.org/officeDocument/2006/extended-properties" xmlns:vt="http://schemas.openxmlformats.org/officeDocument/2006/docPropsVTypes">
  <Template>TM04033919[[fn=Circuit]]</Template>
  <TotalTime>219</TotalTime>
  <Words>497</Words>
  <Application>Microsoft Office PowerPoint</Application>
  <PresentationFormat>Widescreen</PresentationFormat>
  <Paragraphs>60</Paragraphs>
  <Slides>72</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72</vt:i4>
      </vt:variant>
    </vt:vector>
  </HeadingPairs>
  <TitlesOfParts>
    <vt:vector size="77" baseType="lpstr">
      <vt:lpstr>Algerian</vt:lpstr>
      <vt:lpstr>Arial</vt:lpstr>
      <vt:lpstr>Bell MT</vt:lpstr>
      <vt:lpstr>Tw Cen MT</vt:lpstr>
      <vt:lpstr>Circuit</vt:lpstr>
      <vt:lpstr>COURSE REGISTRATION SYSTEM</vt:lpstr>
      <vt:lpstr>CONTENTS</vt:lpstr>
      <vt:lpstr>PROBLEM STATEMENT</vt:lpstr>
      <vt:lpstr>CONSTRAINTS</vt:lpstr>
      <vt:lpstr>PowerPoint Presentation</vt:lpstr>
      <vt:lpstr>PowerPoint Presentation</vt:lpstr>
      <vt:lpstr>SYSTEM ARCHITECTURE</vt:lpstr>
      <vt:lpstr>MODULES </vt:lpstr>
      <vt:lpstr>PowerPoint Presentation</vt:lpstr>
      <vt:lpstr>PowerPoint Presentation</vt:lpstr>
      <vt:lpstr>PowerPoint Presentation</vt:lpstr>
      <vt:lpstr>PowerPoint Presentation</vt:lpstr>
      <vt:lpstr>PowerPoint Presentation</vt:lpstr>
      <vt:lpstr>PowerPoint Presentation</vt:lpstr>
      <vt:lpstr>LOGIN MODULE</vt:lpstr>
      <vt:lpstr>MAIN.C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Admin.h</vt:lpstr>
      <vt:lpstr>PowerPoint Presentation</vt:lpstr>
      <vt:lpstr>Admin.c</vt:lpstr>
      <vt:lpstr>PowerPoint Presentation</vt:lpstr>
      <vt:lpstr>PowerPoint Presentation</vt:lpstr>
      <vt:lpstr>PowerPoint Presentation</vt:lpstr>
      <vt:lpstr>PowerPoint Presentation</vt:lpstr>
      <vt:lpstr>PowerPoint Presentation</vt:lpstr>
      <vt:lpstr>Course.h</vt:lpstr>
      <vt:lpstr>PowerPoint Presentation</vt:lpstr>
      <vt:lpstr>COURSE.C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COMMON.C</vt:lpstr>
      <vt:lpstr>PowerPoint Presentation</vt:lpstr>
      <vt:lpstr>PowerPoint Presentation</vt:lpstr>
      <vt:lpstr>PowerPoint Presentation</vt:lpstr>
      <vt:lpstr>Utility.h</vt:lpstr>
      <vt:lpstr>PowerPoint Presentation</vt:lpstr>
      <vt:lpstr>UTILITY.C</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LIMITATIONS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COURSE REGISTRATION SYSTEM</dc:title>
  <dc:creator>Siddarth Parameswaran</dc:creator>
  <cp:lastModifiedBy>Mathumitha</cp:lastModifiedBy>
  <cp:revision>7</cp:revision>
  <dcterms:created xsi:type="dcterms:W3CDTF">2024-05-20T15:20:16Z</dcterms:created>
  <dcterms:modified xsi:type="dcterms:W3CDTF">2024-06-21T03:51:24Z</dcterms:modified>
</cp:coreProperties>
</file>